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8" autoAdjust="0"/>
    <p:restoredTop sz="94660"/>
  </p:normalViewPr>
  <p:slideViewPr>
    <p:cSldViewPr snapToGrid="0">
      <p:cViewPr>
        <p:scale>
          <a:sx n="100" d="100"/>
          <a:sy n="100" d="100"/>
        </p:scale>
        <p:origin x="-978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6A477-64C4-0C8F-3A33-A2D00FEFD3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A556BA-A45E-E52A-8C99-0915C295D3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1DA07-BB67-FC0F-6965-8905DBCC8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7FF72-7C78-4623-900D-11245C737375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A4719-9631-C90C-A247-AE4A52A44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E2A96-F22D-0B8A-7183-3811C35CD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0A1BE-2905-40D3-894B-4B7F053F2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67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AC892-6445-8081-D759-5B14C4406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FAA66-9FD5-DEAF-F25D-C6FDA6C9D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1B046-3C2C-AC83-79E6-BB49E9BA5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7FF72-7C78-4623-900D-11245C737375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B5098-CC6A-F3FE-932A-5E1E75A1F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3DBFC-8D01-BE41-4F79-9CA501503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0A1BE-2905-40D3-894B-4B7F053F2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308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78E0F-79F3-596E-B5C1-C39960BD0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CEAE3-27FE-F4F6-1CBB-9F95C0A20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7D096-18F6-36F9-CAA6-2C38BAA5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7FF72-7C78-4623-900D-11245C737375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68743-747F-4BE4-00EC-B815948E3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4427F-4CF4-1A71-D15F-1F02BB519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0A1BE-2905-40D3-894B-4B7F053F2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778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2E1E5-8987-4D48-4A47-2AE41D7F3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248E3-7ECA-3F8D-66BC-F927B11DDF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788147-91A2-CE88-F6EC-9AEBC5897E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38A75A-952C-5366-8C0C-7DDCE2ADF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7FF72-7C78-4623-900D-11245C737375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934446-4F7B-4CA9-606D-B46D97807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70692C-AC0A-720D-3156-8AEA387D9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0A1BE-2905-40D3-894B-4B7F053F2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225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CEF3F-6187-79DB-0A1F-5F9A8864B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1AE30-B398-9382-2A32-31801ECA2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273C6E-E852-268C-D410-1AA7365CE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22B07D-E921-E7CC-E200-F0D9E2BBA9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3C42C0-1BD1-847B-2FCC-4BA26B7F03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78C305-80DF-DB69-9DFF-FC99A4A8B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7FF72-7C78-4623-900D-11245C737375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5AF5BB-2CFA-8A39-052D-47304DA7D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11EB90-7DE6-9ED1-ABE6-59D685592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0A1BE-2905-40D3-894B-4B7F053F2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606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932F4-3CE5-5CF9-59F0-C1391D5C3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0B591-C769-D960-8205-E76BE815C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7FF72-7C78-4623-900D-11245C737375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51174C-451A-B065-66EE-96A1A38DE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9918E0-5D2F-D3CF-7981-3C803A03F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0A1BE-2905-40D3-894B-4B7F053F2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302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754A1F-7992-C960-8BA5-FC4130D3E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7FF72-7C78-4623-900D-11245C737375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D35FA2-A157-79CB-9EB1-CEFE764DA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C64CC-7F8A-E09C-3871-5E58BAEA2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0A1BE-2905-40D3-894B-4B7F053F2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719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55A61-9C5D-A5B5-1F2F-ABE0155BD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75C4B-0101-99CF-FD6F-7088D2894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61825B-C323-DB60-9529-B0F78D9A61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10C3E2-CF3E-4832-EC5D-AFB51B7CF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7FF72-7C78-4623-900D-11245C737375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18BA5-7F33-AD00-4158-ACD97E70B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23A3B-09D9-5A5D-38CE-40336F3F7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0A1BE-2905-40D3-894B-4B7F053F2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440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59F5D-A3B9-EBF2-18A1-FEE5E3608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ABA7FD-97BA-3417-9AF9-45037E0C93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7DD9AA-D65F-AFF4-E2BC-39AF41ED5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9866D6-D897-6F21-32B3-323DD0EA4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7FF72-7C78-4623-900D-11245C737375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69DE72-669C-DBDE-97B6-EEF7FE596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48F894-492B-936D-7922-37D6941F0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0A1BE-2905-40D3-894B-4B7F053F2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857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6949D-0D46-F3C1-8252-A85A892A2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8BBC72-E065-FE01-2B73-44B2DC344E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34287-33A2-6059-F681-14641868F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7FF72-7C78-4623-900D-11245C737375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105A3-22B0-DE2D-F762-5A17856CE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5C2B2-327E-248E-8C32-1F312A32F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0A1BE-2905-40D3-894B-4B7F053F2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36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C3EC30-846F-A1E8-22FB-8F9B3666EA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28530A-6C34-5F17-F8B1-56D9D1B278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CF021-8799-89CD-9533-A263E8F9C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7FF72-7C78-4623-900D-11245C737375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C7A14-9F4A-1BB3-46D5-86F4E0671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5C717-A729-521A-6650-FDB6E4868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0A1BE-2905-40D3-894B-4B7F053F2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36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AAEB7A-290C-8056-F744-D253A32BB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FBE7A-A36C-CF05-B7BA-0CAF4A3B2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6DA2F-5AB4-9E6D-0F8D-87650F3C6F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47FF72-7C78-4623-900D-11245C737375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DEE07-8BB8-54B2-D1AB-AC3341FF95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626FE-1DB8-C767-1369-B1358986F1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20A1BE-2905-40D3-894B-4B7F053F2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59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BC985-D331-386B-C17F-5CC2E106E0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dirty="0">
                <a:solidFill>
                  <a:srgbClr val="002060"/>
                </a:solidFill>
              </a:rPr>
              <a:t>wait until vs repeat until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9D65C5-0BF7-8D7E-2BF7-8815C6C221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Choosing the right sensor pattern in Python</a:t>
            </a:r>
          </a:p>
        </p:txBody>
      </p:sp>
    </p:spTree>
    <p:extLst>
      <p:ext uri="{BB962C8B-B14F-4D97-AF65-F5344CB8AC3E}">
        <p14:creationId xmlns:p14="http://schemas.microsoft.com/office/powerpoint/2010/main" val="4270261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F312CC-FFDE-B4FD-FC50-4C343620653D}"/>
              </a:ext>
            </a:extLst>
          </p:cNvPr>
          <p:cNvSpPr txBox="1"/>
          <p:nvPr/>
        </p:nvSpPr>
        <p:spPr>
          <a:xfrm>
            <a:off x="1552755" y="619052"/>
            <a:ext cx="870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3200" dirty="0"/>
              <a:t>Which code </a:t>
            </a:r>
            <a:r>
              <a:rPr lang="en-US" sz="3200" dirty="0">
                <a:solidFill>
                  <a:srgbClr val="002060"/>
                </a:solidFill>
              </a:rPr>
              <a:t>matches</a:t>
            </a:r>
            <a:r>
              <a:rPr lang="en-US" sz="3200" dirty="0"/>
              <a:t> the robot’s goal?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30667A-A591-E75A-7E28-11CCDE9F6845}"/>
              </a:ext>
            </a:extLst>
          </p:cNvPr>
          <p:cNvSpPr txBox="1"/>
          <p:nvPr/>
        </p:nvSpPr>
        <p:spPr>
          <a:xfrm>
            <a:off x="1552755" y="1851427"/>
            <a:ext cx="91957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robot should move forward until the force sensor is pressed, then stop.</a:t>
            </a:r>
          </a:p>
          <a:p>
            <a:pPr algn="ctr"/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E37D4E-536A-3C05-46A1-82C928F8CB2B}"/>
              </a:ext>
            </a:extLst>
          </p:cNvPr>
          <p:cNvSpPr txBox="1"/>
          <p:nvPr/>
        </p:nvSpPr>
        <p:spPr>
          <a:xfrm>
            <a:off x="2489887" y="2480678"/>
            <a:ext cx="40111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A</a:t>
            </a:r>
          </a:p>
          <a:p>
            <a:r>
              <a:rPr lang="en-US" dirty="0"/>
              <a:t>wait until (is pressed)</a:t>
            </a:r>
          </a:p>
          <a:p>
            <a:r>
              <a:rPr lang="en-US" dirty="0"/>
              <a:t>move forward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797C45-CC5B-3EEB-3D38-E69BDA6C2704}"/>
              </a:ext>
            </a:extLst>
          </p:cNvPr>
          <p:cNvSpPr txBox="1"/>
          <p:nvPr/>
        </p:nvSpPr>
        <p:spPr>
          <a:xfrm>
            <a:off x="2489885" y="4343995"/>
            <a:ext cx="3533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C</a:t>
            </a:r>
          </a:p>
          <a:p>
            <a:r>
              <a:rPr lang="en-US" dirty="0"/>
              <a:t>move forward</a:t>
            </a:r>
          </a:p>
          <a:p>
            <a:r>
              <a:rPr lang="en-US" dirty="0"/>
              <a:t>wait until(is pressed)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A9130A-781E-97BF-DD5C-B6EF064C1D69}"/>
              </a:ext>
            </a:extLst>
          </p:cNvPr>
          <p:cNvSpPr txBox="1"/>
          <p:nvPr/>
        </p:nvSpPr>
        <p:spPr>
          <a:xfrm>
            <a:off x="6610350" y="4343995"/>
            <a:ext cx="3533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D</a:t>
            </a:r>
          </a:p>
          <a:p>
            <a:r>
              <a:rPr lang="en-US" dirty="0"/>
              <a:t>while not is pressed():</a:t>
            </a:r>
          </a:p>
          <a:p>
            <a:r>
              <a:rPr lang="en-US" dirty="0"/>
              <a:t>   move forward()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31D238-131F-A513-6F7F-4CF064DFD2F1}"/>
              </a:ext>
            </a:extLst>
          </p:cNvPr>
          <p:cNvSpPr txBox="1"/>
          <p:nvPr/>
        </p:nvSpPr>
        <p:spPr>
          <a:xfrm>
            <a:off x="6610350" y="2480678"/>
            <a:ext cx="4028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B</a:t>
            </a:r>
          </a:p>
          <a:p>
            <a:r>
              <a:rPr lang="en-US" dirty="0"/>
              <a:t>repeat until (is pressed):</a:t>
            </a:r>
          </a:p>
          <a:p>
            <a:r>
              <a:rPr lang="en-US" dirty="0"/>
              <a:t>    move forward()</a:t>
            </a:r>
          </a:p>
        </p:txBody>
      </p:sp>
    </p:spTree>
    <p:extLst>
      <p:ext uri="{BB962C8B-B14F-4D97-AF65-F5344CB8AC3E}">
        <p14:creationId xmlns:p14="http://schemas.microsoft.com/office/powerpoint/2010/main" val="2048021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7258A8-2F9D-5147-1BED-A3E00A54A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49623C-691B-BC97-AE84-995DD7E4CA63}"/>
              </a:ext>
            </a:extLst>
          </p:cNvPr>
          <p:cNvSpPr txBox="1"/>
          <p:nvPr/>
        </p:nvSpPr>
        <p:spPr>
          <a:xfrm>
            <a:off x="1552755" y="619052"/>
            <a:ext cx="870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3200" dirty="0"/>
              <a:t>Which code </a:t>
            </a:r>
            <a:r>
              <a:rPr lang="en-US" sz="3200" dirty="0">
                <a:solidFill>
                  <a:srgbClr val="002060"/>
                </a:solidFill>
              </a:rPr>
              <a:t>matches</a:t>
            </a:r>
            <a:r>
              <a:rPr lang="en-US" sz="3200" dirty="0"/>
              <a:t> the robot’s goal?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0DB9C0-49BC-8A50-C162-F59769267512}"/>
              </a:ext>
            </a:extLst>
          </p:cNvPr>
          <p:cNvSpPr txBox="1"/>
          <p:nvPr/>
        </p:nvSpPr>
        <p:spPr>
          <a:xfrm>
            <a:off x="1443488" y="1463746"/>
            <a:ext cx="91957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robot should move forward until the force sensor is pressed, then stop.</a:t>
            </a:r>
          </a:p>
          <a:p>
            <a:pPr algn="ctr"/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83EFAF-73D5-C5C9-217D-ED80B6F58692}"/>
              </a:ext>
            </a:extLst>
          </p:cNvPr>
          <p:cNvSpPr txBox="1"/>
          <p:nvPr/>
        </p:nvSpPr>
        <p:spPr>
          <a:xfrm>
            <a:off x="2598975" y="2308554"/>
            <a:ext cx="40111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A</a:t>
            </a:r>
          </a:p>
          <a:p>
            <a:r>
              <a:rPr lang="en-US" dirty="0"/>
              <a:t>wait until (is pressed)</a:t>
            </a:r>
          </a:p>
          <a:p>
            <a:r>
              <a:rPr lang="en-US" dirty="0"/>
              <a:t>move forward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75D329-DCF9-083E-E3FE-EE4A59180825}"/>
              </a:ext>
            </a:extLst>
          </p:cNvPr>
          <p:cNvSpPr txBox="1"/>
          <p:nvPr/>
        </p:nvSpPr>
        <p:spPr>
          <a:xfrm>
            <a:off x="2598975" y="4171871"/>
            <a:ext cx="2420700" cy="120032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Option C</a:t>
            </a:r>
          </a:p>
          <a:p>
            <a:r>
              <a:rPr lang="en-US" dirty="0"/>
              <a:t>move forward</a:t>
            </a:r>
          </a:p>
          <a:p>
            <a:r>
              <a:rPr lang="en-US" dirty="0"/>
              <a:t>wait until(is pressed)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Correct Answer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9D3EB6-6710-9284-01A9-D9F9CDC4E537}"/>
              </a:ext>
            </a:extLst>
          </p:cNvPr>
          <p:cNvSpPr txBox="1"/>
          <p:nvPr/>
        </p:nvSpPr>
        <p:spPr>
          <a:xfrm>
            <a:off x="6719438" y="4171871"/>
            <a:ext cx="3533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D</a:t>
            </a:r>
          </a:p>
          <a:p>
            <a:r>
              <a:rPr lang="en-US" dirty="0"/>
              <a:t>while not is pressed():</a:t>
            </a:r>
          </a:p>
          <a:p>
            <a:r>
              <a:rPr lang="en-US" dirty="0"/>
              <a:t>   move forward()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73830E-204D-82CB-7193-FF2C4EDD999B}"/>
              </a:ext>
            </a:extLst>
          </p:cNvPr>
          <p:cNvSpPr txBox="1"/>
          <p:nvPr/>
        </p:nvSpPr>
        <p:spPr>
          <a:xfrm>
            <a:off x="6610350" y="2480678"/>
            <a:ext cx="4028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B</a:t>
            </a:r>
          </a:p>
          <a:p>
            <a:r>
              <a:rPr lang="en-US" dirty="0"/>
              <a:t>repeat until (is pressed):</a:t>
            </a:r>
          </a:p>
          <a:p>
            <a:r>
              <a:rPr lang="en-US" dirty="0"/>
              <a:t>    move forward()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B0B8EE-D4B1-7CAE-FBD3-1BB3E5E9D543}"/>
              </a:ext>
            </a:extLst>
          </p:cNvPr>
          <p:cNvSpPr txBox="1"/>
          <p:nvPr/>
        </p:nvSpPr>
        <p:spPr>
          <a:xfrm>
            <a:off x="2423210" y="5665855"/>
            <a:ext cx="64826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/>
              <a:t>Correct answer: This is a wait until pattern because the robot moves first and then waits until the sensor becomes true.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156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584E3D-84C9-237E-28C3-8E40307F4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0291C0-A6CA-D21B-D905-ECFA93A9C104}"/>
              </a:ext>
            </a:extLst>
          </p:cNvPr>
          <p:cNvSpPr txBox="1"/>
          <p:nvPr/>
        </p:nvSpPr>
        <p:spPr>
          <a:xfrm>
            <a:off x="1552755" y="619052"/>
            <a:ext cx="870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3200" dirty="0"/>
              <a:t>Which code </a:t>
            </a:r>
            <a:r>
              <a:rPr lang="en-US" sz="3200" dirty="0">
                <a:solidFill>
                  <a:srgbClr val="002060"/>
                </a:solidFill>
              </a:rPr>
              <a:t>matches</a:t>
            </a:r>
            <a:r>
              <a:rPr lang="en-US" sz="3200" dirty="0"/>
              <a:t> the robot’s goal?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AA4769-F396-84C6-5629-E4953CF0241D}"/>
              </a:ext>
            </a:extLst>
          </p:cNvPr>
          <p:cNvSpPr txBox="1"/>
          <p:nvPr/>
        </p:nvSpPr>
        <p:spPr>
          <a:xfrm>
            <a:off x="1498121" y="1665915"/>
            <a:ext cx="9195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robot should move backward until the distance sensor is </a:t>
            </a:r>
          </a:p>
          <a:p>
            <a:pPr algn="ctr"/>
            <a:r>
              <a:rPr lang="en-US" dirty="0"/>
              <a:t>less than 20 cm, then stop.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C6A93D-F5A3-6976-C913-67D67338519F}"/>
              </a:ext>
            </a:extLst>
          </p:cNvPr>
          <p:cNvSpPr txBox="1"/>
          <p:nvPr/>
        </p:nvSpPr>
        <p:spPr>
          <a:xfrm>
            <a:off x="2493745" y="2480678"/>
            <a:ext cx="40111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A</a:t>
            </a:r>
          </a:p>
          <a:p>
            <a:r>
              <a:rPr lang="en-US" dirty="0"/>
              <a:t>move backward</a:t>
            </a:r>
          </a:p>
          <a:p>
            <a:r>
              <a:rPr lang="en-US" dirty="0"/>
              <a:t>wait until(is_near(20))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9514B7-F6F4-6B5B-5C7D-B9B441713764}"/>
              </a:ext>
            </a:extLst>
          </p:cNvPr>
          <p:cNvSpPr txBox="1"/>
          <p:nvPr/>
        </p:nvSpPr>
        <p:spPr>
          <a:xfrm>
            <a:off x="2493745" y="4001095"/>
            <a:ext cx="3533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C </a:t>
            </a:r>
          </a:p>
          <a:p>
            <a:r>
              <a:rPr lang="en-US" dirty="0"/>
              <a:t>wait until(is_near(20))</a:t>
            </a:r>
          </a:p>
          <a:p>
            <a:r>
              <a:rPr lang="en-US" dirty="0"/>
              <a:t>move backward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D37ADC-7D16-3580-30CC-C866FF66AEFA}"/>
              </a:ext>
            </a:extLst>
          </p:cNvPr>
          <p:cNvSpPr txBox="1"/>
          <p:nvPr/>
        </p:nvSpPr>
        <p:spPr>
          <a:xfrm>
            <a:off x="6610350" y="4001095"/>
            <a:ext cx="3533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D</a:t>
            </a:r>
          </a:p>
          <a:p>
            <a:r>
              <a:rPr lang="en-US" dirty="0"/>
              <a:t>while is_near(20):</a:t>
            </a:r>
          </a:p>
          <a:p>
            <a:r>
              <a:rPr lang="en-US" dirty="0"/>
              <a:t>    move backward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0FE851-A491-84AA-9588-4A5ACDA301B4}"/>
              </a:ext>
            </a:extLst>
          </p:cNvPr>
          <p:cNvSpPr txBox="1"/>
          <p:nvPr/>
        </p:nvSpPr>
        <p:spPr>
          <a:xfrm>
            <a:off x="6610350" y="2480678"/>
            <a:ext cx="4028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B</a:t>
            </a:r>
          </a:p>
          <a:p>
            <a:r>
              <a:rPr lang="en-US" dirty="0"/>
              <a:t>while not is_near(20):   </a:t>
            </a:r>
          </a:p>
          <a:p>
            <a:r>
              <a:rPr lang="en-US" dirty="0"/>
              <a:t>  move backward</a:t>
            </a:r>
          </a:p>
        </p:txBody>
      </p:sp>
    </p:spTree>
    <p:extLst>
      <p:ext uri="{BB962C8B-B14F-4D97-AF65-F5344CB8AC3E}">
        <p14:creationId xmlns:p14="http://schemas.microsoft.com/office/powerpoint/2010/main" val="980433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F16CD6-D64E-9034-38C3-5E34316C3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67C09E-499A-96DA-1A8E-8B59A4B0FFEA}"/>
              </a:ext>
            </a:extLst>
          </p:cNvPr>
          <p:cNvSpPr txBox="1"/>
          <p:nvPr/>
        </p:nvSpPr>
        <p:spPr>
          <a:xfrm>
            <a:off x="1552755" y="619052"/>
            <a:ext cx="870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3200" dirty="0"/>
              <a:t>Which code </a:t>
            </a:r>
            <a:r>
              <a:rPr lang="en-US" sz="3200" dirty="0">
                <a:solidFill>
                  <a:srgbClr val="002060"/>
                </a:solidFill>
              </a:rPr>
              <a:t>matches</a:t>
            </a:r>
            <a:r>
              <a:rPr lang="en-US" sz="3200" dirty="0"/>
              <a:t> the robot’s goal?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6E174C-5D8D-B43D-2D7A-F3ADF415EB31}"/>
              </a:ext>
            </a:extLst>
          </p:cNvPr>
          <p:cNvSpPr txBox="1"/>
          <p:nvPr/>
        </p:nvSpPr>
        <p:spPr>
          <a:xfrm>
            <a:off x="1498121" y="1665915"/>
            <a:ext cx="9195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robot should move backward until the distance sensor is </a:t>
            </a:r>
          </a:p>
          <a:p>
            <a:pPr algn="ctr"/>
            <a:r>
              <a:rPr lang="en-US" dirty="0"/>
              <a:t>less than 20 cm, then stop.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A0A63A-B009-DC56-023D-E301E70AD056}"/>
              </a:ext>
            </a:extLst>
          </p:cNvPr>
          <p:cNvSpPr txBox="1"/>
          <p:nvPr/>
        </p:nvSpPr>
        <p:spPr>
          <a:xfrm>
            <a:off x="2493745" y="2480678"/>
            <a:ext cx="40111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A</a:t>
            </a:r>
          </a:p>
          <a:p>
            <a:r>
              <a:rPr lang="en-US" dirty="0"/>
              <a:t>move backward</a:t>
            </a:r>
          </a:p>
          <a:p>
            <a:r>
              <a:rPr lang="en-US" dirty="0"/>
              <a:t>wait until(is_near(20))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FC40F6-D14F-34E1-37B1-9374E07DB162}"/>
              </a:ext>
            </a:extLst>
          </p:cNvPr>
          <p:cNvSpPr txBox="1"/>
          <p:nvPr/>
        </p:nvSpPr>
        <p:spPr>
          <a:xfrm>
            <a:off x="2493745" y="4001095"/>
            <a:ext cx="3533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C </a:t>
            </a:r>
          </a:p>
          <a:p>
            <a:r>
              <a:rPr lang="en-US" dirty="0"/>
              <a:t>wait until(is_near(20))</a:t>
            </a:r>
          </a:p>
          <a:p>
            <a:r>
              <a:rPr lang="en-US" dirty="0"/>
              <a:t>move backward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32A892-CF5E-8AD1-869A-CF2CF5BE4EB7}"/>
              </a:ext>
            </a:extLst>
          </p:cNvPr>
          <p:cNvSpPr txBox="1"/>
          <p:nvPr/>
        </p:nvSpPr>
        <p:spPr>
          <a:xfrm>
            <a:off x="6610350" y="4001095"/>
            <a:ext cx="3533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D</a:t>
            </a:r>
          </a:p>
          <a:p>
            <a:r>
              <a:rPr lang="en-US" dirty="0"/>
              <a:t>while is_near(20):</a:t>
            </a:r>
          </a:p>
          <a:p>
            <a:r>
              <a:rPr lang="en-US" dirty="0"/>
              <a:t>    move backward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01F4D6-8CBF-3046-611D-176E9FD4990E}"/>
              </a:ext>
            </a:extLst>
          </p:cNvPr>
          <p:cNvSpPr txBox="1"/>
          <p:nvPr/>
        </p:nvSpPr>
        <p:spPr>
          <a:xfrm>
            <a:off x="6610350" y="2480678"/>
            <a:ext cx="2952750" cy="120032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Option B</a:t>
            </a:r>
          </a:p>
          <a:p>
            <a:r>
              <a:rPr lang="en-US" dirty="0"/>
              <a:t>while not is_near(20):   </a:t>
            </a:r>
          </a:p>
          <a:p>
            <a:r>
              <a:rPr lang="en-US" dirty="0"/>
              <a:t>   move backward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Correct Answer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E77CA0-8915-7156-8169-FE85487975B2}"/>
              </a:ext>
            </a:extLst>
          </p:cNvPr>
          <p:cNvSpPr txBox="1"/>
          <p:nvPr/>
        </p:nvSpPr>
        <p:spPr>
          <a:xfrm>
            <a:off x="2581275" y="5486400"/>
            <a:ext cx="69818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Correct answer: This is a repeat until pattern because the robot keeps moving backward while the distance is not close enough. Stops when the condition becomes true.</a:t>
            </a:r>
          </a:p>
        </p:txBody>
      </p:sp>
    </p:spTree>
    <p:extLst>
      <p:ext uri="{BB962C8B-B14F-4D97-AF65-F5344CB8AC3E}">
        <p14:creationId xmlns:p14="http://schemas.microsoft.com/office/powerpoint/2010/main" val="1034133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38794B-EBF4-33BC-D33C-E170A7999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05E67A-549E-7EAE-FBFF-39C0E57C8217}"/>
              </a:ext>
            </a:extLst>
          </p:cNvPr>
          <p:cNvSpPr txBox="1"/>
          <p:nvPr/>
        </p:nvSpPr>
        <p:spPr>
          <a:xfrm>
            <a:off x="1552755" y="619052"/>
            <a:ext cx="870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3200" dirty="0"/>
              <a:t>Which code </a:t>
            </a:r>
            <a:r>
              <a:rPr lang="en-US" sz="3200" dirty="0">
                <a:solidFill>
                  <a:srgbClr val="002060"/>
                </a:solidFill>
              </a:rPr>
              <a:t>matches</a:t>
            </a:r>
            <a:r>
              <a:rPr lang="en-US" sz="3200" dirty="0"/>
              <a:t> the robot’s goal?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3B18B4-9C2A-CC4D-DE28-E3DF4951DC4E}"/>
              </a:ext>
            </a:extLst>
          </p:cNvPr>
          <p:cNvSpPr txBox="1"/>
          <p:nvPr/>
        </p:nvSpPr>
        <p:spPr>
          <a:xfrm>
            <a:off x="1498121" y="1665915"/>
            <a:ext cx="919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robot should keep turning left until the color sensor sees blue, then stop.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CC488E-7464-7442-703C-4A2D5620BD6F}"/>
              </a:ext>
            </a:extLst>
          </p:cNvPr>
          <p:cNvSpPr txBox="1"/>
          <p:nvPr/>
        </p:nvSpPr>
        <p:spPr>
          <a:xfrm>
            <a:off x="2493745" y="2497335"/>
            <a:ext cx="40111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A</a:t>
            </a:r>
          </a:p>
          <a:p>
            <a:r>
              <a:rPr lang="en-US" dirty="0"/>
              <a:t>turn left()</a:t>
            </a:r>
          </a:p>
          <a:p>
            <a:r>
              <a:rPr lang="en-US" dirty="0"/>
              <a:t>Wait until(is blue)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040462-C1FA-0CC0-7A1F-1D1B9ACA6CED}"/>
              </a:ext>
            </a:extLst>
          </p:cNvPr>
          <p:cNvSpPr txBox="1"/>
          <p:nvPr/>
        </p:nvSpPr>
        <p:spPr>
          <a:xfrm>
            <a:off x="2493745" y="4001095"/>
            <a:ext cx="35337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C </a:t>
            </a:r>
          </a:p>
          <a:p>
            <a:r>
              <a:rPr lang="en-US" dirty="0"/>
              <a:t>Turn left()</a:t>
            </a:r>
          </a:p>
          <a:p>
            <a:r>
              <a:rPr lang="en-US" dirty="0"/>
              <a:t>while not is blue():</a:t>
            </a:r>
          </a:p>
          <a:p>
            <a:r>
              <a:rPr lang="en-US" dirty="0"/>
              <a:t>    turn left()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E44B21-F759-A8D5-538A-58D0BB566516}"/>
              </a:ext>
            </a:extLst>
          </p:cNvPr>
          <p:cNvSpPr txBox="1"/>
          <p:nvPr/>
        </p:nvSpPr>
        <p:spPr>
          <a:xfrm>
            <a:off x="6610350" y="4001095"/>
            <a:ext cx="3533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D</a:t>
            </a:r>
          </a:p>
          <a:p>
            <a:r>
              <a:rPr lang="en-US" dirty="0"/>
              <a:t>while is blue():</a:t>
            </a:r>
          </a:p>
          <a:p>
            <a:r>
              <a:rPr lang="en-US" dirty="0"/>
              <a:t>    turn left()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C083DB-2A73-56C8-154A-386CFF7F5344}"/>
              </a:ext>
            </a:extLst>
          </p:cNvPr>
          <p:cNvSpPr txBox="1"/>
          <p:nvPr/>
        </p:nvSpPr>
        <p:spPr>
          <a:xfrm>
            <a:off x="6610350" y="2480678"/>
            <a:ext cx="2314575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Option B</a:t>
            </a:r>
          </a:p>
          <a:p>
            <a:r>
              <a:rPr lang="en-US" dirty="0"/>
              <a:t>while not is blue():</a:t>
            </a:r>
          </a:p>
          <a:p>
            <a:r>
              <a:rPr lang="en-US" dirty="0"/>
              <a:t>    turn left()</a:t>
            </a:r>
          </a:p>
        </p:txBody>
      </p:sp>
    </p:spTree>
    <p:extLst>
      <p:ext uri="{BB962C8B-B14F-4D97-AF65-F5344CB8AC3E}">
        <p14:creationId xmlns:p14="http://schemas.microsoft.com/office/powerpoint/2010/main" val="1868452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D76815-7351-388B-6977-88D7A7A62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5F57AD-1178-7C3E-F965-E94DE4F5E98D}"/>
              </a:ext>
            </a:extLst>
          </p:cNvPr>
          <p:cNvSpPr txBox="1"/>
          <p:nvPr/>
        </p:nvSpPr>
        <p:spPr>
          <a:xfrm>
            <a:off x="1552755" y="619052"/>
            <a:ext cx="870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3200" dirty="0"/>
              <a:t>Which code </a:t>
            </a:r>
            <a:r>
              <a:rPr lang="en-US" sz="3200" dirty="0">
                <a:solidFill>
                  <a:srgbClr val="002060"/>
                </a:solidFill>
              </a:rPr>
              <a:t>matches</a:t>
            </a:r>
            <a:r>
              <a:rPr lang="en-US" sz="3200" dirty="0"/>
              <a:t> the robot’s goal?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836757-38E0-8A04-7B64-8819EAE5BE94}"/>
              </a:ext>
            </a:extLst>
          </p:cNvPr>
          <p:cNvSpPr txBox="1"/>
          <p:nvPr/>
        </p:nvSpPr>
        <p:spPr>
          <a:xfrm>
            <a:off x="1498121" y="1665915"/>
            <a:ext cx="919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robot should keep turning left until the color sensor sees blue, then stop.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0E545F-302E-455D-70CC-571A2BB6CD1E}"/>
              </a:ext>
            </a:extLst>
          </p:cNvPr>
          <p:cNvSpPr txBox="1"/>
          <p:nvPr/>
        </p:nvSpPr>
        <p:spPr>
          <a:xfrm>
            <a:off x="2493745" y="2497335"/>
            <a:ext cx="40111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A</a:t>
            </a:r>
          </a:p>
          <a:p>
            <a:r>
              <a:rPr lang="en-US" dirty="0"/>
              <a:t>turn left()</a:t>
            </a:r>
          </a:p>
          <a:p>
            <a:r>
              <a:rPr lang="en-US" dirty="0"/>
              <a:t>Wait until(is blue)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2EC7CE-9D7B-F121-2CFC-F9026B982CA9}"/>
              </a:ext>
            </a:extLst>
          </p:cNvPr>
          <p:cNvSpPr txBox="1"/>
          <p:nvPr/>
        </p:nvSpPr>
        <p:spPr>
          <a:xfrm>
            <a:off x="2493745" y="4001095"/>
            <a:ext cx="35337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C </a:t>
            </a:r>
          </a:p>
          <a:p>
            <a:r>
              <a:rPr lang="en-US" dirty="0"/>
              <a:t>Turn left()</a:t>
            </a:r>
          </a:p>
          <a:p>
            <a:r>
              <a:rPr lang="en-US" dirty="0"/>
              <a:t>while not is blue():</a:t>
            </a:r>
          </a:p>
          <a:p>
            <a:r>
              <a:rPr lang="en-US" dirty="0"/>
              <a:t>    turn left()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3F0B49-6C77-CD1F-4D16-1CBF44C7C408}"/>
              </a:ext>
            </a:extLst>
          </p:cNvPr>
          <p:cNvSpPr txBox="1"/>
          <p:nvPr/>
        </p:nvSpPr>
        <p:spPr>
          <a:xfrm>
            <a:off x="6610350" y="4001095"/>
            <a:ext cx="3533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D</a:t>
            </a:r>
          </a:p>
          <a:p>
            <a:r>
              <a:rPr lang="en-US" dirty="0"/>
              <a:t>while is blue():</a:t>
            </a:r>
          </a:p>
          <a:p>
            <a:r>
              <a:rPr lang="en-US" dirty="0"/>
              <a:t>    turn left()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39063C-61BB-746F-4047-3CD1F19B4D15}"/>
              </a:ext>
            </a:extLst>
          </p:cNvPr>
          <p:cNvSpPr txBox="1"/>
          <p:nvPr/>
        </p:nvSpPr>
        <p:spPr>
          <a:xfrm>
            <a:off x="6610350" y="2480678"/>
            <a:ext cx="2314575" cy="120032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Option B</a:t>
            </a:r>
          </a:p>
          <a:p>
            <a:r>
              <a:rPr lang="en-US" dirty="0"/>
              <a:t>while not is blue():</a:t>
            </a:r>
          </a:p>
          <a:p>
            <a:r>
              <a:rPr lang="en-US" dirty="0"/>
              <a:t>    turn left()</a:t>
            </a:r>
          </a:p>
          <a:p>
            <a:r>
              <a:rPr lang="en-US" dirty="0"/>
              <a:t>Correct answer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2C396D-212F-346D-5207-B81CC2546CAA}"/>
              </a:ext>
            </a:extLst>
          </p:cNvPr>
          <p:cNvSpPr txBox="1"/>
          <p:nvPr/>
        </p:nvSpPr>
        <p:spPr>
          <a:xfrm>
            <a:off x="2638425" y="5543550"/>
            <a:ext cx="6553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Correct Answer: This is a repeat until pattern because the robot keeps turning while the color is not blue. Stops when the condition becomes true.</a:t>
            </a:r>
          </a:p>
        </p:txBody>
      </p:sp>
    </p:spTree>
    <p:extLst>
      <p:ext uri="{BB962C8B-B14F-4D97-AF65-F5344CB8AC3E}">
        <p14:creationId xmlns:p14="http://schemas.microsoft.com/office/powerpoint/2010/main" val="1493402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6A5011-8085-3629-DE87-56B10A958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34A9C4-A64A-1B0A-2FF1-ED1B71B99538}"/>
              </a:ext>
            </a:extLst>
          </p:cNvPr>
          <p:cNvSpPr txBox="1"/>
          <p:nvPr/>
        </p:nvSpPr>
        <p:spPr>
          <a:xfrm>
            <a:off x="1552755" y="619052"/>
            <a:ext cx="870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3200" dirty="0"/>
              <a:t>Which code </a:t>
            </a:r>
            <a:r>
              <a:rPr lang="en-US" sz="3200" dirty="0">
                <a:solidFill>
                  <a:srgbClr val="002060"/>
                </a:solidFill>
              </a:rPr>
              <a:t>matches</a:t>
            </a:r>
            <a:r>
              <a:rPr lang="en-US" sz="3200" dirty="0"/>
              <a:t> the robot’s goal?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8E2073-084B-4D02-5B8B-B6EF0B76C88F}"/>
              </a:ext>
            </a:extLst>
          </p:cNvPr>
          <p:cNvSpPr txBox="1"/>
          <p:nvPr/>
        </p:nvSpPr>
        <p:spPr>
          <a:xfrm>
            <a:off x="1888646" y="1577082"/>
            <a:ext cx="83645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robot should keep moving forward while the distance sensor is more than 8 cm away. Stops when it gets close.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3A4B53-BD7C-8CB7-4D25-B212AC304CAB}"/>
              </a:ext>
            </a:extLst>
          </p:cNvPr>
          <p:cNvSpPr txBox="1"/>
          <p:nvPr/>
        </p:nvSpPr>
        <p:spPr>
          <a:xfrm>
            <a:off x="2493745" y="2505670"/>
            <a:ext cx="2981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A</a:t>
            </a:r>
          </a:p>
          <a:p>
            <a:r>
              <a:rPr lang="en-US" dirty="0"/>
              <a:t>while  is_near(8):</a:t>
            </a:r>
          </a:p>
          <a:p>
            <a:r>
              <a:rPr lang="en-US" dirty="0"/>
              <a:t>     start moving forward</a:t>
            </a:r>
          </a:p>
          <a:p>
            <a:r>
              <a:rPr lang="en-US" dirty="0"/>
              <a:t>stop moving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6211DE-478C-5347-7B94-216FDD769C10}"/>
              </a:ext>
            </a:extLst>
          </p:cNvPr>
          <p:cNvSpPr txBox="1"/>
          <p:nvPr/>
        </p:nvSpPr>
        <p:spPr>
          <a:xfrm>
            <a:off x="2474695" y="4001095"/>
            <a:ext cx="35337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C </a:t>
            </a:r>
          </a:p>
          <a:p>
            <a:r>
              <a:rPr lang="en-US" dirty="0"/>
              <a:t>while not is near(8):</a:t>
            </a:r>
          </a:p>
          <a:p>
            <a:r>
              <a:rPr lang="en-US" dirty="0"/>
              <a:t>     start moving forward</a:t>
            </a:r>
          </a:p>
          <a:p>
            <a:r>
              <a:rPr lang="en-US" dirty="0"/>
              <a:t>stop moving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F5DB77-C8D7-A5A3-FDBF-5C00BCABB78A}"/>
              </a:ext>
            </a:extLst>
          </p:cNvPr>
          <p:cNvSpPr txBox="1"/>
          <p:nvPr/>
        </p:nvSpPr>
        <p:spPr>
          <a:xfrm>
            <a:off x="6610350" y="4001095"/>
            <a:ext cx="3533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D</a:t>
            </a:r>
          </a:p>
          <a:p>
            <a:r>
              <a:rPr lang="en-US" dirty="0"/>
              <a:t>wait until not is_near(8)</a:t>
            </a:r>
          </a:p>
          <a:p>
            <a:r>
              <a:rPr lang="en-US" dirty="0"/>
              <a:t>move forward()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803D4B-F33E-227B-515C-479D2BB19FCF}"/>
              </a:ext>
            </a:extLst>
          </p:cNvPr>
          <p:cNvSpPr txBox="1"/>
          <p:nvPr/>
        </p:nvSpPr>
        <p:spPr>
          <a:xfrm>
            <a:off x="6610350" y="2505669"/>
            <a:ext cx="2981325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Option B</a:t>
            </a:r>
          </a:p>
          <a:p>
            <a:r>
              <a:rPr lang="en-US" dirty="0"/>
              <a:t>start moving forward</a:t>
            </a:r>
          </a:p>
          <a:p>
            <a:r>
              <a:rPr lang="en-US" dirty="0"/>
              <a:t>wait until is near(8)</a:t>
            </a:r>
          </a:p>
          <a:p>
            <a:r>
              <a:rPr lang="en-US" dirty="0"/>
              <a:t>stop moving</a:t>
            </a:r>
          </a:p>
        </p:txBody>
      </p:sp>
    </p:spTree>
    <p:extLst>
      <p:ext uri="{BB962C8B-B14F-4D97-AF65-F5344CB8AC3E}">
        <p14:creationId xmlns:p14="http://schemas.microsoft.com/office/powerpoint/2010/main" val="2873302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C5B68C-D647-753D-E235-1D6CF1229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EF2BCD-EBB3-19A8-03F5-879D4912DAE0}"/>
              </a:ext>
            </a:extLst>
          </p:cNvPr>
          <p:cNvSpPr txBox="1"/>
          <p:nvPr/>
        </p:nvSpPr>
        <p:spPr>
          <a:xfrm>
            <a:off x="1552755" y="619052"/>
            <a:ext cx="870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3200" dirty="0"/>
              <a:t>Which code </a:t>
            </a:r>
            <a:r>
              <a:rPr lang="en-US" sz="3200" dirty="0">
                <a:solidFill>
                  <a:srgbClr val="002060"/>
                </a:solidFill>
              </a:rPr>
              <a:t>matches</a:t>
            </a:r>
            <a:r>
              <a:rPr lang="en-US" sz="3200" dirty="0"/>
              <a:t> the robot’s goal?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1740D1-2A77-C5F4-BC60-D040B0FC7E01}"/>
              </a:ext>
            </a:extLst>
          </p:cNvPr>
          <p:cNvSpPr txBox="1"/>
          <p:nvPr/>
        </p:nvSpPr>
        <p:spPr>
          <a:xfrm>
            <a:off x="1888646" y="1577082"/>
            <a:ext cx="83645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robot should keep moving forward while the distance sensor is more than 8 cm away. Stops when it gets close.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708961-78AB-3E27-AA6D-0ABA15DA207B}"/>
              </a:ext>
            </a:extLst>
          </p:cNvPr>
          <p:cNvSpPr txBox="1"/>
          <p:nvPr/>
        </p:nvSpPr>
        <p:spPr>
          <a:xfrm>
            <a:off x="2493745" y="2505670"/>
            <a:ext cx="2981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A</a:t>
            </a:r>
          </a:p>
          <a:p>
            <a:r>
              <a:rPr lang="en-US" dirty="0"/>
              <a:t>while  is_near(8):</a:t>
            </a:r>
          </a:p>
          <a:p>
            <a:r>
              <a:rPr lang="en-US" dirty="0"/>
              <a:t>     start moving forward</a:t>
            </a:r>
          </a:p>
          <a:p>
            <a:r>
              <a:rPr lang="en-US" dirty="0"/>
              <a:t>stop moving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62DC0-EA22-E5A7-6EB8-1E694D87FC47}"/>
              </a:ext>
            </a:extLst>
          </p:cNvPr>
          <p:cNvSpPr txBox="1"/>
          <p:nvPr/>
        </p:nvSpPr>
        <p:spPr>
          <a:xfrm>
            <a:off x="2474695" y="4001095"/>
            <a:ext cx="2725955" cy="14773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Option C </a:t>
            </a:r>
          </a:p>
          <a:p>
            <a:r>
              <a:rPr lang="en-US" dirty="0"/>
              <a:t>while not is near(8):</a:t>
            </a:r>
          </a:p>
          <a:p>
            <a:r>
              <a:rPr lang="en-US" dirty="0"/>
              <a:t>     start moving forward</a:t>
            </a:r>
          </a:p>
          <a:p>
            <a:r>
              <a:rPr lang="en-US" dirty="0"/>
              <a:t>stop moving</a:t>
            </a:r>
          </a:p>
          <a:p>
            <a:r>
              <a:rPr lang="en-US" dirty="0"/>
              <a:t>Correct Answer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C64FB3-2900-629A-D5CD-9D7FB23C5370}"/>
              </a:ext>
            </a:extLst>
          </p:cNvPr>
          <p:cNvSpPr txBox="1"/>
          <p:nvPr/>
        </p:nvSpPr>
        <p:spPr>
          <a:xfrm>
            <a:off x="6610350" y="4001095"/>
            <a:ext cx="3533775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Option D</a:t>
            </a:r>
          </a:p>
          <a:p>
            <a:r>
              <a:rPr lang="en-US" dirty="0"/>
              <a:t>wait until not is_near(8)</a:t>
            </a:r>
          </a:p>
          <a:p>
            <a:r>
              <a:rPr lang="en-US" dirty="0"/>
              <a:t>move forward()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861071-DCAE-380F-4E4E-4ADF04FFFE2F}"/>
              </a:ext>
            </a:extLst>
          </p:cNvPr>
          <p:cNvSpPr txBox="1"/>
          <p:nvPr/>
        </p:nvSpPr>
        <p:spPr>
          <a:xfrm>
            <a:off x="6610350" y="2505669"/>
            <a:ext cx="2981325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Option B</a:t>
            </a:r>
          </a:p>
          <a:p>
            <a:r>
              <a:rPr lang="en-US" dirty="0"/>
              <a:t>start moving forward</a:t>
            </a:r>
          </a:p>
          <a:p>
            <a:r>
              <a:rPr lang="en-US" dirty="0"/>
              <a:t>wait until is near(8)</a:t>
            </a:r>
          </a:p>
          <a:p>
            <a:r>
              <a:rPr lang="en-US" dirty="0"/>
              <a:t>stop moving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BB1903-D59B-E507-E70F-F563B9368F29}"/>
              </a:ext>
            </a:extLst>
          </p:cNvPr>
          <p:cNvSpPr txBox="1"/>
          <p:nvPr/>
        </p:nvSpPr>
        <p:spPr>
          <a:xfrm>
            <a:off x="2474695" y="5781675"/>
            <a:ext cx="76980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Correct answer: This is a repeat until pattern because the robot keeps moving while the distance is still greater than 8 cm. When the robot gets close enough, the condition becomes false and the loop stops.</a:t>
            </a:r>
          </a:p>
        </p:txBody>
      </p:sp>
    </p:spTree>
    <p:extLst>
      <p:ext uri="{BB962C8B-B14F-4D97-AF65-F5344CB8AC3E}">
        <p14:creationId xmlns:p14="http://schemas.microsoft.com/office/powerpoint/2010/main" val="2308015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593F2B-B913-8A49-E9A7-A5CF1AD38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D4AF98-A567-8869-9BCA-0C19527E8652}"/>
              </a:ext>
            </a:extLst>
          </p:cNvPr>
          <p:cNvSpPr txBox="1"/>
          <p:nvPr/>
        </p:nvSpPr>
        <p:spPr>
          <a:xfrm>
            <a:off x="1552755" y="619052"/>
            <a:ext cx="870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3200" dirty="0"/>
              <a:t>Which code </a:t>
            </a:r>
            <a:r>
              <a:rPr lang="en-US" sz="3200" dirty="0">
                <a:solidFill>
                  <a:srgbClr val="002060"/>
                </a:solidFill>
              </a:rPr>
              <a:t>matches</a:t>
            </a:r>
            <a:r>
              <a:rPr lang="en-US" sz="3200" dirty="0"/>
              <a:t> the robot’s goal?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342E2A-58B6-2AB9-6D0D-50F547CC4E68}"/>
              </a:ext>
            </a:extLst>
          </p:cNvPr>
          <p:cNvSpPr txBox="1"/>
          <p:nvPr/>
        </p:nvSpPr>
        <p:spPr>
          <a:xfrm>
            <a:off x="1888646" y="1577082"/>
            <a:ext cx="8364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robot should keep checking the color sensor until it sees red, then stop.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3AD006-1AE0-4BAD-2A7B-F0D8EEC434EC}"/>
              </a:ext>
            </a:extLst>
          </p:cNvPr>
          <p:cNvSpPr txBox="1"/>
          <p:nvPr/>
        </p:nvSpPr>
        <p:spPr>
          <a:xfrm>
            <a:off x="2493745" y="2505670"/>
            <a:ext cx="29813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A</a:t>
            </a:r>
          </a:p>
          <a:p>
            <a:r>
              <a:rPr lang="en-US" dirty="0"/>
              <a:t>while not is red():</a:t>
            </a:r>
          </a:p>
          <a:p>
            <a:r>
              <a:rPr lang="en-US" dirty="0"/>
              <a:t>    move forward()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E236FF-91A6-7555-EBA1-91DC52DC89CC}"/>
              </a:ext>
            </a:extLst>
          </p:cNvPr>
          <p:cNvSpPr txBox="1"/>
          <p:nvPr/>
        </p:nvSpPr>
        <p:spPr>
          <a:xfrm>
            <a:off x="2474695" y="4001095"/>
            <a:ext cx="3533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C </a:t>
            </a:r>
          </a:p>
          <a:p>
            <a:r>
              <a:rPr lang="en-US" dirty="0"/>
              <a:t>while is red():</a:t>
            </a:r>
          </a:p>
          <a:p>
            <a:r>
              <a:rPr lang="en-US" dirty="0"/>
              <a:t>    move forward()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89E436-ACC3-9624-86A4-1550AE53F86D}"/>
              </a:ext>
            </a:extLst>
          </p:cNvPr>
          <p:cNvSpPr txBox="1"/>
          <p:nvPr/>
        </p:nvSpPr>
        <p:spPr>
          <a:xfrm>
            <a:off x="6610350" y="4001095"/>
            <a:ext cx="3533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D</a:t>
            </a:r>
          </a:p>
          <a:p>
            <a:r>
              <a:rPr lang="en-US" dirty="0"/>
              <a:t>wait until is not red</a:t>
            </a:r>
          </a:p>
          <a:p>
            <a:r>
              <a:rPr lang="en-US" dirty="0"/>
              <a:t>move forward()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9B060A-B85C-9BB5-C0C3-E64A60DF4EA5}"/>
              </a:ext>
            </a:extLst>
          </p:cNvPr>
          <p:cNvSpPr txBox="1"/>
          <p:nvPr/>
        </p:nvSpPr>
        <p:spPr>
          <a:xfrm>
            <a:off x="6610350" y="2505669"/>
            <a:ext cx="2981325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Option B</a:t>
            </a:r>
          </a:p>
          <a:p>
            <a:r>
              <a:rPr lang="en-US" dirty="0"/>
              <a:t>move forward()</a:t>
            </a:r>
          </a:p>
          <a:p>
            <a:r>
              <a:rPr lang="en-US" dirty="0"/>
              <a:t>wait until is red</a:t>
            </a:r>
          </a:p>
        </p:txBody>
      </p:sp>
    </p:spTree>
    <p:extLst>
      <p:ext uri="{BB962C8B-B14F-4D97-AF65-F5344CB8AC3E}">
        <p14:creationId xmlns:p14="http://schemas.microsoft.com/office/powerpoint/2010/main" val="397097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88DABF-59F4-23C1-2BF8-A9D0F01F7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4A0F4E-15BF-FE4F-3D46-263AD7C776BD}"/>
              </a:ext>
            </a:extLst>
          </p:cNvPr>
          <p:cNvSpPr txBox="1"/>
          <p:nvPr/>
        </p:nvSpPr>
        <p:spPr>
          <a:xfrm>
            <a:off x="1552755" y="619052"/>
            <a:ext cx="870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3200" dirty="0"/>
              <a:t>Which code </a:t>
            </a:r>
            <a:r>
              <a:rPr lang="en-US" sz="3200" dirty="0">
                <a:solidFill>
                  <a:srgbClr val="002060"/>
                </a:solidFill>
              </a:rPr>
              <a:t>matches</a:t>
            </a:r>
            <a:r>
              <a:rPr lang="en-US" sz="3200" dirty="0"/>
              <a:t> the robot’s goal?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46D600-32A3-9560-9C02-E4E2A67173F0}"/>
              </a:ext>
            </a:extLst>
          </p:cNvPr>
          <p:cNvSpPr txBox="1"/>
          <p:nvPr/>
        </p:nvSpPr>
        <p:spPr>
          <a:xfrm>
            <a:off x="1888646" y="1577082"/>
            <a:ext cx="8364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robot should keep checking the color sensor until it sees red, then stop.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198E18-F3D7-C656-2666-5ACEBA5DEA29}"/>
              </a:ext>
            </a:extLst>
          </p:cNvPr>
          <p:cNvSpPr txBox="1"/>
          <p:nvPr/>
        </p:nvSpPr>
        <p:spPr>
          <a:xfrm>
            <a:off x="2493746" y="2505670"/>
            <a:ext cx="2259230" cy="120032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Option A</a:t>
            </a:r>
          </a:p>
          <a:p>
            <a:r>
              <a:rPr lang="en-US" dirty="0"/>
              <a:t>while not is red():</a:t>
            </a:r>
          </a:p>
          <a:p>
            <a:r>
              <a:rPr lang="en-US" dirty="0"/>
              <a:t>    move forward()</a:t>
            </a:r>
          </a:p>
          <a:p>
            <a:r>
              <a:rPr lang="en-US" dirty="0"/>
              <a:t>Correct Answer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5AB68E-44F3-7CBC-0D59-25E595468088}"/>
              </a:ext>
            </a:extLst>
          </p:cNvPr>
          <p:cNvSpPr txBox="1"/>
          <p:nvPr/>
        </p:nvSpPr>
        <p:spPr>
          <a:xfrm>
            <a:off x="2474695" y="4001095"/>
            <a:ext cx="3533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C </a:t>
            </a:r>
          </a:p>
          <a:p>
            <a:r>
              <a:rPr lang="en-US" dirty="0"/>
              <a:t>while is red():</a:t>
            </a:r>
          </a:p>
          <a:p>
            <a:r>
              <a:rPr lang="en-US" dirty="0"/>
              <a:t>    move forward()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9B0FD8-1B34-C53C-B956-1D1399210DEA}"/>
              </a:ext>
            </a:extLst>
          </p:cNvPr>
          <p:cNvSpPr txBox="1"/>
          <p:nvPr/>
        </p:nvSpPr>
        <p:spPr>
          <a:xfrm>
            <a:off x="6610350" y="4001095"/>
            <a:ext cx="3533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D</a:t>
            </a:r>
          </a:p>
          <a:p>
            <a:r>
              <a:rPr lang="en-US" dirty="0"/>
              <a:t>wait until is not red</a:t>
            </a:r>
          </a:p>
          <a:p>
            <a:r>
              <a:rPr lang="en-US" dirty="0"/>
              <a:t>move forward()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2FAE20-1BAA-C877-9DC4-683342DE46FC}"/>
              </a:ext>
            </a:extLst>
          </p:cNvPr>
          <p:cNvSpPr txBox="1"/>
          <p:nvPr/>
        </p:nvSpPr>
        <p:spPr>
          <a:xfrm>
            <a:off x="6610350" y="2505669"/>
            <a:ext cx="2981325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Option B</a:t>
            </a:r>
          </a:p>
          <a:p>
            <a:r>
              <a:rPr lang="en-US" dirty="0"/>
              <a:t>move forward()</a:t>
            </a:r>
          </a:p>
          <a:p>
            <a:r>
              <a:rPr lang="en-US" dirty="0"/>
              <a:t>wait until is red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D6EA4D-CD8A-3A34-AF30-0F5CA354F728}"/>
              </a:ext>
            </a:extLst>
          </p:cNvPr>
          <p:cNvSpPr txBox="1"/>
          <p:nvPr/>
        </p:nvSpPr>
        <p:spPr>
          <a:xfrm>
            <a:off x="2381250" y="5210175"/>
            <a:ext cx="73056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Correct answer: This is a repeat until pattern because the robot keeps moving while the sensor is not red. </a:t>
            </a:r>
            <a:r>
              <a:rPr lang="en-US"/>
              <a:t>When the robot finally sees red, the condition becomes true and the loop stops.</a:t>
            </a:r>
          </a:p>
        </p:txBody>
      </p:sp>
    </p:spTree>
    <p:extLst>
      <p:ext uri="{BB962C8B-B14F-4D97-AF65-F5344CB8AC3E}">
        <p14:creationId xmlns:p14="http://schemas.microsoft.com/office/powerpoint/2010/main" val="3153168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891</TotalTime>
  <Words>903</Words>
  <Application>Microsoft Office PowerPoint</Application>
  <PresentationFormat>Widescreen</PresentationFormat>
  <Paragraphs>163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wait until vs repeat until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Eddy King</dc:creator>
  <cp:lastModifiedBy>Eddy King</cp:lastModifiedBy>
  <cp:revision>1</cp:revision>
  <dcterms:created xsi:type="dcterms:W3CDTF">2026-09-26T12:05:52Z</dcterms:created>
  <dcterms:modified xsi:type="dcterms:W3CDTF">2026-09-27T02:57:02Z</dcterms:modified>
</cp:coreProperties>
</file>